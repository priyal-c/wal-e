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Well-Architected Lakehouse Assessment</a:t>
            </a:r>
          </a:p>
          <a:p>
            <a:pPr>
              <a:defRPr sz="4400" b="1">
                <a:solidFill>
                  <a:srgbClr val="FF3821"/>
                </a:solidFill>
              </a:defRPr>
            </a:pPr>
            <a:r>
              <a:t>Executive Readout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3291840"/>
          <a:ext cx="9144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40080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Assessment Type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Well-Architected Lakehouse Assessment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Customer Workspace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https://acme-analytics.cloud.databricks.com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Cloud Provider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Amazon Web Services (AWS)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Metastore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acme_metastore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Assessment Date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2026-07-29T19:28:28Z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Lead Assessor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WAL-E Agent (Automated)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Framework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Databricks Well-Architected Framework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821"/>
                </a:solidFill>
              </a:defRPr>
            </a:pPr>
            <a:r>
              <a:t>Assessment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EAED"/>
                </a:solidFill>
              </a:defRPr>
            </a:pPr>
            <a:r>
              <a:t>Objective: Evaluate the existing Databricks workspace architecture against industry standard best practices and provide high-level recommendations based on the Well-Architected Lakehouse framework.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EAED"/>
                </a:solidFill>
              </a:defRPr>
            </a:pPr>
            <a:r>
              <a:t>Scope: All 7 pillars of the WAL framework assessed: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AED"/>
                </a:solidFill>
              </a:defRPr>
            </a:pPr>
            <a:r>
              <a:t>1. Data &amp; AI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AED"/>
                </a:solidFill>
              </a:defRPr>
            </a:pPr>
            <a:r>
              <a:t>2. Interoperability &amp; Usability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AED"/>
                </a:solidFill>
              </a:defRPr>
            </a:pPr>
            <a:r>
              <a:t>3. Operational Excellence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AED"/>
                </a:solidFill>
              </a:defRPr>
            </a:pPr>
            <a:r>
              <a:t>4. Security, Compliance &amp; Privacy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AED"/>
                </a:solidFill>
              </a:defRPr>
            </a:pPr>
            <a:r>
              <a:t>5. 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AED"/>
                </a:solidFill>
              </a:defRPr>
            </a:pPr>
            <a:r>
              <a:t>6. Performance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AED"/>
                </a:solidFill>
              </a:defRPr>
            </a:pPr>
            <a:r>
              <a:t>7. Cost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EAED"/>
                </a:solidFill>
              </a:defRPr>
            </a:pPr>
            <a:r>
              <a:t>Methodology: Automated workspace inspection via Databricks CLI, REST APIs, Unity Catalog APIs, and workspace configuration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821"/>
                </a:solidFill>
              </a:defRPr>
            </a:pPr>
            <a:r>
              <a:t>Overall Maturity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59E0B"/>
                </a:solidFill>
              </a:defRPr>
            </a:pPr>
            <a:r>
              <a:t>65%</a:t>
            </a:r>
          </a:p>
          <a:p>
            <a:pPr>
              <a:defRPr sz="1400">
                <a:solidFill>
                  <a:srgbClr val="9AA0A6"/>
                </a:solidFill>
              </a:defRPr>
            </a:pPr>
            <a:r>
              <a:t>Overall Score: 1.30 / 2.0 (Established Maturity)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0" y="1188720"/>
          <a:ext cx="6675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347472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Maturity Level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Score Range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F4444"/>
                          </a:solidFill>
                        </a:defRPr>
                      </a:pPr>
                      <a:r>
                        <a:t>Beginning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0.0 - 0.5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Minimal best practices adopted; significant gaps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Developing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0.5 - 1.25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Some best practices in place; inconsistent adoption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A972"/>
                          </a:solidFill>
                        </a:defRPr>
                      </a:pPr>
                      <a:r>
                        <a:t>Established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1.25 - 1.75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Most best practices adopted; room for optimization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A972"/>
                          </a:solidFill>
                        </a:defRPr>
                      </a:pPr>
                      <a:r>
                        <a:t>Optimized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1.75 - 2.0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Full best practice adoption; continuous improvement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8EAED"/>
                </a:solidFill>
              </a:defRPr>
            </a:pPr>
            <a:r>
              <a:t>Data &amp; AI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9E0B"/>
                </a:solidFill>
              </a:defRPr>
            </a:pPr>
            <a:r>
              <a:t>■■■■■□□□□□  1.2  (59%)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587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8EAED"/>
                </a:solidFill>
              </a:defRPr>
            </a:pPr>
            <a:r>
              <a:t>Interoperability &amp; Usability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8587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9E0B"/>
                </a:solidFill>
              </a:defRPr>
            </a:pPr>
            <a:r>
              <a:t>■■■■■■■□□□  1.5  (73%)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428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8EAED"/>
                </a:solidFill>
              </a:defRPr>
            </a:pPr>
            <a:r>
              <a:t>Operational Excellence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2428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9E0B"/>
                </a:solidFill>
              </a:defRPr>
            </a:pPr>
            <a:r>
              <a:t>■■■■■■■□□□  1.4  (71%)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268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8EAED"/>
                </a:solidFill>
              </a:defRPr>
            </a:pPr>
            <a:r>
              <a:t>Security, Compliance &amp; 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62686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9E0B"/>
                </a:solidFill>
              </a:defRPr>
            </a:pPr>
            <a:r>
              <a:t>■■■■■□□□□□  1.0  (50%)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10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8EAED"/>
                </a:solidFill>
              </a:defRPr>
            </a:pPr>
            <a:r>
              <a:t>Reliability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0109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9E0B"/>
                </a:solidFill>
              </a:defRPr>
            </a:pPr>
            <a:r>
              <a:t>■■■■■□□□□□  1.1  (55%)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949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8EAED"/>
                </a:solidFill>
              </a:defRPr>
            </a:pPr>
            <a:r>
              <a:t>Performance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3949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9E0B"/>
                </a:solidFill>
              </a:defRPr>
            </a:pPr>
            <a:r>
              <a:t>■■■■■■□□□□  1.4  (70%)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7900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8EAED"/>
                </a:solidFill>
              </a:defRPr>
            </a:pPr>
            <a:r>
              <a:t>Cost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779007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9E0B"/>
                </a:solidFill>
              </a:defRPr>
            </a:pPr>
            <a:r>
              <a:t>■■■■■■■□□□  1.5  (74%)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821"/>
                </a:solidFill>
              </a:defRPr>
            </a:pPr>
            <a:r>
              <a:t>Pillar Summary Scores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097280"/>
                <a:gridCol w="3200400"/>
                <a:gridCol w="283464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Pillar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Visual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Maturity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Data &amp; AI Governance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■■■■■□□□□□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Developing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Interoperability &amp; Usability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A972"/>
                          </a:solidFill>
                        </a:defRPr>
                      </a:pPr>
                      <a:r>
                        <a:t>1.5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■■■■■■■□□□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A972"/>
                          </a:solidFill>
                        </a:defRPr>
                      </a:pPr>
                      <a:r>
                        <a:t>Established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Operational Excellence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■■■■■■■□□□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A972"/>
                          </a:solidFill>
                        </a:defRPr>
                      </a:pPr>
                      <a:r>
                        <a:t>Established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Security, Compliance &amp; Privacy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■■■■■□□□□□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Developing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Reliability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1.1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■■■■■□□□□□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Developing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Performance Efficiency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■■■■■■□□□□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A972"/>
                          </a:solidFill>
                        </a:defRPr>
                      </a:pPr>
                      <a:r>
                        <a:t>Established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Cost Optimization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A972"/>
                          </a:solidFill>
                        </a:defRPr>
                      </a:pPr>
                      <a:r>
                        <a:t>1.5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■■■■■■■□□□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A972"/>
                          </a:solidFill>
                        </a:defRPr>
                      </a:pPr>
                      <a:r>
                        <a:t>Established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821"/>
                </a:solidFill>
              </a:defRPr>
            </a:pPr>
            <a:r>
              <a:t>Workspace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6CB9"/>
                </a:solidFill>
              </a:defRPr>
            </a:pPr>
            <a:r>
              <a:t>Cloud Provider: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EAED"/>
                </a:solidFill>
              </a:defRPr>
            </a:pPr>
            <a:r>
              <a:t>Resource Inventory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645920"/>
          <a:ext cx="56692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14400"/>
                <a:gridCol w="2377440"/>
              </a:tblGrid>
              <a:tr h="27431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Health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Unity Catalog Catalogs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2411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F4444"/>
                          </a:solidFill>
                        </a:defRPr>
                      </a:pPr>
                      <a:r>
                        <a:t>CRITICAL - Extreme sprawl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External Locations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377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WARNING - Significant sprawl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Storage Credentials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509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WARNING - Significant sprawl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Cluster Policies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A972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Running Clusters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A972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SQL Warehouses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A972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Instance Pools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A972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DLT Pipelines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A972"/>
                          </a:solidFill>
                        </a:defRPr>
                      </a:pPr>
                      <a:r>
                        <a:t>OK - Active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Serving Endpoints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A972"/>
                          </a:solidFill>
                        </a:defRPr>
                      </a:pPr>
                      <a:r>
                        <a:t>OK - Active and serving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Secret Scopes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WARNING - None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3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Git Repos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A972"/>
                          </a:solidFill>
                        </a:defRPr>
                      </a:pPr>
                      <a:r>
                        <a:t>OK - Active integration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EAED"/>
                </a:solidFill>
              </a:defRPr>
            </a:pPr>
            <a:r>
              <a:t>Key Configuration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46304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182880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Setting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Current Value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Recommended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DBFS File Browser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DISABLE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Results Download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EVALUATE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Notebook Export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EVALUATE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IP Access Lists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MAINTAIN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Max Token Lifetime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53 days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30 days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Metastore Owner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Sample User 01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Catalog Isolation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Mostly OPEN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ISOLATED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821"/>
                </a:solidFill>
              </a:defRPr>
            </a:pPr>
            <a:r>
              <a:t>Top 10 Critical Findings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128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5303520"/>
                <a:gridCol w="2743200"/>
                <a:gridCol w="1371600"/>
                <a:gridCol w="182880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Pillar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Quick Fix?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Idle cluster waste (deep) - 10 idle clusters totaling 2383h in 30d. Top: sa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Cost Optimization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F4444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Add descriptions - 2411 catalogs — likely many lack descriptions. Add comme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Data &amp; AI Governance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F4444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Automated rollbacks - No Git-backed jobs detected. Implement CI/CD with aut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Operational Excellence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F4444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Graviton instance types - No Graviton instances across 4 clusters (AWS). Ad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Performance Efficiency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F4444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Query failure rate (deep) - Query failure rate is 12.0607% (899642 of 52438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Performance Efficiency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F4444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Job success rate (deep) - Job success rate is 53.5256% (7892 failures out o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Reliability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F4444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Recurring job failures (deep) - 10 jobs have 5+ failures in 30 days. Chroni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Reliability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F4444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Restrict DBFS root data storage - DBFS file browser is ENABLED. Disable imm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Security, Compliance &amp; Privacy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F4444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A97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Failed login monitoring (deep) - 315 failed login attempts in 30 days. Poss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Security, Compliance &amp; Privacy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F4444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00A97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Permission change audit (deep) - 522057 permission changes in 30 days (of 2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Security, Compliance &amp; Privacy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F4444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821"/>
                </a:solidFill>
              </a:defRPr>
            </a:pPr>
            <a:r>
              <a:t>Data &amp; AI Governance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Score: 1.2/2.0 - Developing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972"/>
                </a:solidFill>
              </a:defRPr>
            </a:pPr>
            <a:r>
              <a:t>Strengths: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Single metastore 'acme_metastore'; metadata managed centrally.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63 model(s) governed in Unity Catalog (Vector Search indexes: 61)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Unity Catalog access control centralized. Metastore owner: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All 63 registered model(s) are in Unity Catalog. Centralized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Critical Gaps: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2411 catalogs — likely many lack descriptions. Add comments to 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Recommendations: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1. 2411 catalogs — likely many lack descriptions. Add comments to sc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2. Unity Catalog in use but 2411 catalogs suggest ad-hoc governance.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3. Unity Catalog lineage available but active tracking not verified.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4. Unity Catalog available but 2411 catalogs hinder discovery. Conso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5. Workspace configuration accessible; audit logging partially verif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6. Workspace settings accessible; configure systematic audit event 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821"/>
                </a:solidFill>
              </a:defRPr>
            </a:pPr>
            <a:r>
              <a:t>Interoperability &amp; Usability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Score: 1.5/2.0 - Established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972"/>
                </a:solidFill>
              </a:defRPr>
            </a:pPr>
            <a:r>
              <a:t>Strengths: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16 DLT pipelines reduce complexity.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Delta Lake (open format) used via Unity Catalog.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Delta Sharing configured (INTERNAL_AND_EXTERNAL) for secure shari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Open ML standards in use: 63 MLflow model(s) in Unity Catalog (32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4 SQL Warehouses available for self-service analytics.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Critical Gaps: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No critical gaps (score 0) in this pillar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Recommendations: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1. Jobs present but no standard integration patterns detected.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2. Connector optimization not verified from API. Prefer native Delta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3. Partner tool certification not verified from API.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4. IaC usage not detected from API. Document Terraform/CI usage.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5. 38 cluster policies — too many to be standardized templates. Cons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821"/>
                </a:solidFill>
              </a:defRPr>
            </a:pPr>
            <a:r>
              <a:t>Operational Excellence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Score: 1.4/2.0 - Established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972"/>
                </a:solidFill>
              </a:defRPr>
            </a:pPr>
            <a:r>
              <a:t>Strengths: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Repos/SCM configured (4 repos).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Multiple catalogs; environment isolation via UC.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Catalog strategy in place with multiple catalogs.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38 cluster policies defined for standardized compute.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11 automated jobs.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Critical Gaps: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No Git-backed jobs detected. Implement CI/CD with automated rollb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Recommendations: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1. No Git-backed jobs detected. Implement CI/CD with automated rollb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2. Cannot verify org structure from API. Document dedicated ops owne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3. 11 jobs present but none use Git source. Use Repos and Git-backed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4. 32 serving endpoints; Model Registry not verifiable from API. Reg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5. IaC usage not detected from API. Document Terraform/CI usage.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6. Event-driven ingestion not verifiable from API. Use Auto Loader.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821"/>
                </a:solidFill>
              </a:defRPr>
            </a:pPr>
            <a:r>
              <a:t>Security, Compliance &amp; Privacy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Score: 1.0/2.0 - Developing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972"/>
                </a:solidFill>
              </a:defRPr>
            </a:pPr>
            <a:r>
              <a:t>Strengths: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Unity Catalog enables centralized least-privilege IAM.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4298 service principals configured for automation.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2 external-model endpoint(s) reference credentials via secret sco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Critical Gaps: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DBFS file browser is ENABLED. Disable immediately and migrate dat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315 failed login attempts in 30 days. Possible brute-force. Enabl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522057 permission changes in 30 days (of 277430572 total events).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Recommendations: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1. DBFS file browser is ENABLED. Disable immediately and migrate dat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2. 315 failed login attempts in 30 days. Possible brute-force. Enabl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3. 522057 permission changes in 30 days (of 277430572 total events).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4. Verify AWS SSE-S3/SSE-KMS encryption at rest and TLS in transit.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5. IP access lists not detected. Configure network restrictions.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6. Shared responsibility model not verifiable from API. Document clo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821"/>
                </a:solidFill>
              </a:defRPr>
            </a:pPr>
            <a:r>
              <a:t>Reliability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Score: 1.1/2.0 - Developing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972"/>
                </a:solidFill>
              </a:defRPr>
            </a:pPr>
            <a:r>
              <a:t>Strengths: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Model serving endpoints in use (32 endpoints).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Managed services (jobs, DLT, SQL) in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7 SQL warehouse(s) with multi-cluster or serverless autoscaling.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Unity Catalog with Delta Lake enables time travel recovery.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Critical Gaps: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Job success rate is 53.5256% (7892 failures out of 93503 runs).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10 jobs have 5+ failures in 30 days. Chronic reliability issue —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Recommendations: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1. Job success rate is 53.5256% (7892 failures out of 93503 runs). 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2. 10 jobs have 5+ failures in 30 days. Chronic reliability issue —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3. Unity Catalog + Delta Lake in use but cannot verify all tables 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4. Photon not detected on clusters. Use Photon for better resilience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5. Rescue invalid data pattern not verifiable from pipeline metadata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6. Jobs present but none have max_retries &gt; 0. Configure retries for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821"/>
                </a:solidFill>
              </a:defRPr>
            </a:pPr>
            <a:r>
              <a:t>Performance Efficiency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Score: 1.4/2.0 - Established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972"/>
                </a:solidFill>
              </a:defRPr>
            </a:pPr>
            <a:r>
              <a:t>Strengths: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3 cluster(s) with autoscaling enabled.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7 SQL warehouse(s) with Pro or serverless compute.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Delta Live Tables in use (16 pipelines).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Clusters sized for scale (max 3 workers). Right-size for workload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Multiple instance types in use (3 types) — workload-aware selecti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Critical Gaps: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No Graviton instances across 4 clusters (AWS). Adopt for best pri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Query failure rate is 12.0607% (899642 of 5243829 queries). Inves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Recommendations: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1. No Graviton instances across 4 clusters (AWS). Adopt for best pri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2. Query failure rate is 12.0607% (899642 of 5243829 queries). Inves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3. Data optimization (OPTIMIZE/Z-ORDER) not verifiable from API.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4. Clusters present but worker count not available. Scale workers 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5. Photon not detected on clusters. Use Photon for better resilience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6. Photon not detected on clusters. Use Photon for better resilience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821"/>
                </a:solidFill>
              </a:defRPr>
            </a:pPr>
            <a:r>
              <a:t>Cost Optimization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Score: 1.5/2.0 - Established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972"/>
                </a:solidFill>
              </a:defRPr>
            </a:pPr>
            <a:r>
              <a:t>Strengths: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SQL Warehouses used for SQL workloads (4 warehouses).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4/4 cluster(s) on recent runtimes (&gt;=14.x).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No GPU clusters — cost-efficient instance selection.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7 SQL warehouse(s) with Pro or serverless compute.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Cluster policies help enforce right instance types (38 policies).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Critical Gaps: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10 idle clusters totaling 2383h in 30d. Top: sample-resource-147,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Key Recommendations: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1. 10 idle clusters totaling 2383h in 30d. Top: sample-resource-147,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2. Unity Catalog + Delta Lake in use but cannot verify all tables 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3. Jobs present but not using job clusters. Use job clusters for 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4. Photon not detected on clusters. Use Photon for better resilience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5. Auto-termination partial: 0/1 interactive cluster(s), 7/7 warehou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6. Cost tagging not verifiable from API. Add tags for cost allocatio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821"/>
                </a:solidFill>
              </a:defRPr>
            </a:pPr>
            <a:r>
              <a:t>Remediation Roadmap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821"/>
                </a:solidFill>
              </a:defRPr>
            </a:pPr>
            <a:r>
              <a:t>PHASE 1 (Week 1-2)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AA0A6"/>
                </a:solidFill>
              </a:defRPr>
            </a:pPr>
            <a:r>
              <a:t>Quick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Disable DBFS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Add descriptions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Automated rollbacks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Restrict DBFS root data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Reduce token lifetime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PHASE 2 (Week 3-6)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AA0A6"/>
                </a:solidFill>
              </a:defRPr>
            </a:pPr>
            <a:r>
              <a:t>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Catalog strategy &amp; naming convention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40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Standardize cluster policies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Cost tagging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Catalog isolation (OPEN -&gt; ISOLATED)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Restrict IAM 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Audit logging via system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36CB9"/>
                </a:solidFill>
              </a:defRPr>
            </a:pPr>
            <a:r>
              <a:t>PHASE 3 (Week 7-12)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AA0A6"/>
                </a:solidFill>
              </a:defRPr>
            </a:pPr>
            <a:r>
              <a:t>Operational Maturity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Dev/Test/Prod separation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83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Standardize CI/CD (DAB/Terraform)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035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Monitoring dashboards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235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Fix failing DLT pipelines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5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DQ expectations framework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63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Consolidate SQL Warehouses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A972"/>
                </a:solidFill>
              </a:defRPr>
            </a:pPr>
            <a:r>
              <a:t>PHASE 4 (Week 13-20)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AA0A6"/>
                </a:solidFill>
              </a:defRPr>
            </a:pPr>
            <a:r>
              <a:t>Optimization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Disaster recovery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983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Private Link / VPC injection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035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Liquid clustering / Z-ORDER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6235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Chargeback / showback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9435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Performance testing in CI/CD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6263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8EAED"/>
                </a:solidFill>
              </a:defRPr>
            </a:pPr>
            <a:r>
              <a:t>•  Deploy Security Analysis Tool (SAT)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821"/>
                </a:solidFill>
              </a:defRPr>
            </a:pPr>
            <a: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EAED"/>
                </a:solidFill>
              </a:defRPr>
            </a:pPr>
            <a:r>
              <a:t>Immediate Actions (This Week)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AED"/>
                </a:solidFill>
              </a:defRPr>
            </a:pPr>
            <a:r>
              <a:t>1. Disable DBFS file browser - Workspace admin setting change (5 minutes)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AED"/>
                </a:solidFill>
              </a:defRPr>
            </a:pPr>
            <a:r>
              <a:t>2. Reduce token lifetime from 53 to 30 days (5 minutes)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EAED"/>
                </a:solidFill>
              </a:defRPr>
            </a:pPr>
            <a:r>
              <a:t>Follow-Up Engagements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2926079"/>
          <a:ext cx="116128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6126480"/>
                <a:gridCol w="2286000"/>
              </a:tblGrid>
              <a:tr h="27431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Engagement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Duration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Catalog Cleanup &amp; Governance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Define catalog strategy, naming conventions, lifecycle policies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2-3 weeks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Security Hardening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IAM profile review, Private Link, SAT deployment, compliance framework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3-4 weeks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Platform Standardization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Cluster policy templates, CI/CD standardization, monitoring setup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4-6 weeks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Cost Optimization Workshop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Tagging strategy, chargeback implementation, resource consolidation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2-3 weeks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Disaster Recovery Planning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DR design, cross-region replication, backup strategy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3-4 weeks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3821"/>
                </a:solidFill>
              </a:defRPr>
            </a:pPr>
            <a:r>
              <a:t>Assessment Tool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EAED"/>
                </a:solidFill>
              </a:defRPr>
            </a:pPr>
            <a:r>
              <a:t>Scored Best Practices by Pillar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463040"/>
          <a:ext cx="1161288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188720"/>
                <a:gridCol w="1188720"/>
                <a:gridCol w="1188720"/>
                <a:gridCol w="2560320"/>
              </a:tblGrid>
              <a:tr h="27431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Pillar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BPs Assessed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Score 0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Score 1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Score 2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Avg Score</a:t>
                      </a:r>
                    </a:p>
                  </a:txBody>
                  <a:tcPr marL="73152" marR="73152" marT="36576" marB="36576">
                    <a:solidFill>
                      <a:srgbClr val="2D333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Data &amp; AI Governance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1.18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Interoperability &amp; Usability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1.47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Operational Excellence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1.42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Security, Compliance &amp; Privacy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Reliability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1.09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Performance Efficiency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1.39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Cost Optimization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1.48</a:t>
                      </a:r>
                    </a:p>
                  </a:txBody>
                  <a:tcPr marL="73152" marR="73152" marT="36576" marB="36576">
                    <a:solidFill>
                      <a:srgbClr val="22272E"/>
                    </a:solidFill>
                  </a:tcPr>
                </a:tc>
              </a:tr>
              <a:tr h="274327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145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8EAED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1.29</a:t>
                      </a:r>
                    </a:p>
                  </a:txBody>
                  <a:tcPr marL="73152" marR="73152" marT="36576" marB="36576">
                    <a:solidFill>
                      <a:srgbClr val="1B1F2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7% of best practices are NOT implemented. Only 37% are fully implemented.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3821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AA0A6"/>
                </a:solidFill>
              </a:defRPr>
            </a:pPr>
            <a:r>
              <a:t>Well-Architected Lakehouse Assessment — https://acme-analytics.cloud.databricks.com (Amazon Web Services (AWS))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EAED"/>
                </a:solidFill>
              </a:defRPr>
            </a:pPr>
            <a:r>
              <a:t>Deliverables: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AED"/>
                </a:solidFill>
              </a:defRPr>
            </a:pPr>
            <a:r>
              <a:t>1. This Executive Readout Deck (WAL_Assessment_Presentation.pptx)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AED"/>
                </a:solidFill>
              </a:defRPr>
            </a:pPr>
            <a:r>
              <a:t>2. Detailed Assessment Report (WAL_Assessment_Readout.md)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AED"/>
                </a:solidFill>
              </a:defRPr>
            </a:pPr>
            <a:r>
              <a:t>3. Scored Assessment Tool (WAL_Assessment_Scores.csv)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8EAED"/>
                </a:solidFill>
              </a:defRPr>
            </a:pPr>
            <a:r>
              <a:t>4. Complete Audit Trail (WAL_Assessment_Audit_Report.md)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8EAED"/>
                </a:solidFill>
              </a:defRPr>
            </a:pPr>
            <a:r>
              <a:t>References: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AA0A6"/>
                </a:solidFill>
              </a:defRPr>
            </a:pPr>
            <a:r>
              <a:t>•  Databricks Well-Architected Framework (docs.databricks.com)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15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AA0A6"/>
                </a:solidFill>
              </a:defRPr>
            </a:pPr>
            <a:r>
              <a:t>•  Well-Architected Lakehouse Introduction (docs.databricks.com/lakehouse-architecture)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AA0A6"/>
                </a:solidFill>
              </a:defRPr>
            </a:pPr>
            <a:r>
              <a:t>•  Databricks Well-Architected Lakehouse Assessment Delivery Playbook (Internal)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3550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AA0A6"/>
                </a:solidFill>
              </a:defRPr>
            </a:pPr>
            <a:r>
              <a:t>•  Databricks Well-Architected Lakehouse Assessment Tool (Internal)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